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79" y="704315"/>
            <a:ext cx="9946004" cy="2834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818" y="4294685"/>
            <a:ext cx="7917180" cy="3264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967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sz="12650" spc="-40" dirty="0"/>
              <a:t>IntelliSudoku</a:t>
            </a:r>
            <a:endParaRPr sz="126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" y="3429000"/>
            <a:ext cx="2190750" cy="2190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1971" y="3822103"/>
            <a:ext cx="8499475" cy="147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4400" b="1" spc="-170" dirty="0">
                <a:solidFill>
                  <a:srgbClr val="FFFFFF"/>
                </a:solidFill>
                <a:latin typeface="Trebuchet MS"/>
                <a:cs typeface="Trebuchet MS"/>
              </a:rPr>
              <a:t>Comparative</a:t>
            </a:r>
            <a:r>
              <a:rPr sz="4400" b="1" spc="-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2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sz="44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6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44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10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44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Trebuchet MS"/>
                <a:cs typeface="Trebuchet MS"/>
              </a:rPr>
              <a:t>Search </a:t>
            </a:r>
            <a:r>
              <a:rPr sz="4400" b="1" spc="-40" dirty="0">
                <a:solidFill>
                  <a:srgbClr val="FFFFFF"/>
                </a:solidFill>
                <a:latin typeface="Trebuchet MS"/>
                <a:cs typeface="Trebuchet MS"/>
              </a:rPr>
              <a:t>Algorithms</a:t>
            </a:r>
            <a:r>
              <a:rPr sz="4400" b="1" spc="-2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8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44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25" dirty="0">
                <a:solidFill>
                  <a:srgbClr val="FFFFFF"/>
                </a:solidFill>
                <a:latin typeface="Trebuchet MS"/>
                <a:cs typeface="Trebuchet MS"/>
              </a:rPr>
              <a:t>Sudoku</a:t>
            </a:r>
            <a:r>
              <a:rPr sz="4400" b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Trebuchet MS"/>
                <a:cs typeface="Trebuchet MS"/>
              </a:rPr>
              <a:t>Solving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971" y="5697850"/>
            <a:ext cx="3399154" cy="4354012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88315">
              <a:lnSpc>
                <a:spcPct val="129400"/>
              </a:lnSpc>
              <a:spcBef>
                <a:spcPts val="155"/>
              </a:spcBef>
            </a:pPr>
            <a:r>
              <a:rPr sz="2750" spc="-170" dirty="0">
                <a:solidFill>
                  <a:srgbClr val="D36A19"/>
                </a:solidFill>
                <a:latin typeface="Verdana"/>
                <a:cs typeface="Verdana"/>
              </a:rPr>
              <a:t>Team</a:t>
            </a:r>
            <a:r>
              <a:rPr sz="2750" spc="-555" dirty="0">
                <a:solidFill>
                  <a:srgbClr val="D36A19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D36A19"/>
                </a:solidFill>
                <a:latin typeface="Verdana"/>
                <a:cs typeface="Verdana"/>
              </a:rPr>
              <a:t>Members </a:t>
            </a:r>
            <a:r>
              <a:rPr sz="2600" spc="-100" dirty="0">
                <a:solidFill>
                  <a:srgbClr val="FFFFFF"/>
                </a:solidFill>
                <a:latin typeface="Verdana"/>
                <a:cs typeface="Verdana"/>
              </a:rPr>
              <a:t>Kazi</a:t>
            </a:r>
            <a:r>
              <a:rPr sz="26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10" dirty="0">
                <a:solidFill>
                  <a:srgbClr val="FFFFFF"/>
                </a:solidFill>
                <a:latin typeface="Verdana"/>
                <a:cs typeface="Verdana"/>
              </a:rPr>
              <a:t>Dider</a:t>
            </a:r>
            <a:r>
              <a:rPr sz="2600" spc="-4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Verdana"/>
                <a:cs typeface="Verdana"/>
              </a:rPr>
              <a:t>Sayed </a:t>
            </a:r>
            <a:r>
              <a:rPr sz="2600" spc="-60" dirty="0">
                <a:solidFill>
                  <a:srgbClr val="FFFFFF"/>
                </a:solidFill>
                <a:latin typeface="Verdana"/>
                <a:cs typeface="Verdana"/>
              </a:rPr>
              <a:t>Mosfiquer</a:t>
            </a:r>
            <a:r>
              <a:rPr sz="26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35" dirty="0">
                <a:solidFill>
                  <a:srgbClr val="FFFFFF"/>
                </a:solidFill>
                <a:latin typeface="Verdana"/>
                <a:cs typeface="Verdana"/>
              </a:rPr>
              <a:t>Rahman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KM</a:t>
            </a:r>
            <a:r>
              <a:rPr sz="26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Labib</a:t>
            </a:r>
            <a:endParaRPr lang="en-US" sz="2600" spc="-10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 marR="488315">
              <a:lnSpc>
                <a:spcPct val="129400"/>
              </a:lnSpc>
              <a:spcBef>
                <a:spcPts val="155"/>
              </a:spcBef>
            </a:pPr>
            <a:r>
              <a:rPr lang="en-US" sz="2600" spc="-10" dirty="0">
                <a:solidFill>
                  <a:srgbClr val="FFFFFF"/>
                </a:solidFill>
                <a:latin typeface="Verdana"/>
                <a:cs typeface="Verdana"/>
              </a:rPr>
              <a:t>Ahnaf Shahriar</a:t>
            </a:r>
            <a:endParaRPr sz="2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50"/>
              </a:spcBef>
            </a:pPr>
            <a:endParaRPr sz="2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D36A19"/>
                </a:solidFill>
                <a:latin typeface="Verdana"/>
                <a:cs typeface="Verdana"/>
              </a:rPr>
              <a:t>Date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100" dirty="0">
                <a:solidFill>
                  <a:srgbClr val="FFFFFF"/>
                </a:solidFill>
                <a:latin typeface="Verdana"/>
                <a:cs typeface="Verdana"/>
              </a:rPr>
              <a:t>September</a:t>
            </a:r>
            <a:r>
              <a:rPr sz="2800" spc="-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Verdana"/>
                <a:cs typeface="Verdana"/>
              </a:rPr>
              <a:t>12,</a:t>
            </a:r>
            <a:r>
              <a:rPr sz="2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Verdana"/>
                <a:cs typeface="Verdana"/>
              </a:rPr>
              <a:t>2026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832" rIns="0" bIns="0" rtlCol="0">
            <a:spAutoFit/>
          </a:bodyPr>
          <a:lstStyle/>
          <a:p>
            <a:pPr marL="102870" marR="5080">
              <a:lnSpc>
                <a:spcPts val="9230"/>
              </a:lnSpc>
              <a:spcBef>
                <a:spcPts val="1465"/>
              </a:spcBef>
            </a:pPr>
            <a:r>
              <a:rPr sz="8750" spc="-110" dirty="0"/>
              <a:t>Problem</a:t>
            </a:r>
            <a:r>
              <a:rPr sz="8750" spc="-844" dirty="0"/>
              <a:t> </a:t>
            </a:r>
            <a:r>
              <a:rPr sz="8750" spc="-10" dirty="0"/>
              <a:t>Statement </a:t>
            </a:r>
            <a:r>
              <a:rPr sz="8750" spc="-545" dirty="0"/>
              <a:t>a</a:t>
            </a:r>
            <a:r>
              <a:rPr sz="8750" spc="-535" dirty="0"/>
              <a:t>n</a:t>
            </a:r>
            <a:r>
              <a:rPr sz="8750" spc="-15" dirty="0"/>
              <a:t>d</a:t>
            </a:r>
            <a:r>
              <a:rPr sz="8750" spc="-1345" dirty="0"/>
              <a:t> </a:t>
            </a:r>
            <a:r>
              <a:rPr sz="8750" spc="-10" dirty="0"/>
              <a:t>Motivation</a:t>
            </a:r>
            <a:endParaRPr sz="8750"/>
          </a:p>
        </p:txBody>
      </p:sp>
      <p:sp>
        <p:nvSpPr>
          <p:cNvPr id="5" name="object 5"/>
          <p:cNvSpPr txBox="1"/>
          <p:nvPr/>
        </p:nvSpPr>
        <p:spPr>
          <a:xfrm>
            <a:off x="718818" y="4340936"/>
            <a:ext cx="7668895" cy="482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0"/>
              </a:spcBef>
            </a:pPr>
            <a:r>
              <a:rPr sz="2750" spc="-70" dirty="0">
                <a:solidFill>
                  <a:srgbClr val="FFFFFF"/>
                </a:solidFill>
                <a:latin typeface="Verdana"/>
                <a:cs typeface="Verdana"/>
              </a:rPr>
              <a:t>Sudoku</a:t>
            </a:r>
            <a:r>
              <a:rPr sz="275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7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75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10" dirty="0">
                <a:solidFill>
                  <a:srgbClr val="FFFFFF"/>
                </a:solidFill>
                <a:latin typeface="Verdana"/>
                <a:cs typeface="Verdana"/>
              </a:rPr>
              <a:t>constraint-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7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puzzle</a:t>
            </a:r>
            <a:r>
              <a:rPr sz="27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Verdana"/>
                <a:cs typeface="Verdana"/>
              </a:rPr>
              <a:t>that </a:t>
            </a:r>
            <a:r>
              <a:rPr sz="2750" spc="-50" dirty="0">
                <a:solidFill>
                  <a:srgbClr val="FFFFFF"/>
                </a:solidFill>
                <a:latin typeface="Verdana"/>
                <a:cs typeface="Verdana"/>
              </a:rPr>
              <a:t>demands</a:t>
            </a:r>
            <a:r>
              <a:rPr sz="27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0" dirty="0">
                <a:solidFill>
                  <a:srgbClr val="FFFFFF"/>
                </a:solidFill>
                <a:latin typeface="Verdana"/>
                <a:cs typeface="Verdana"/>
              </a:rPr>
              <a:t>extensive</a:t>
            </a:r>
            <a:r>
              <a:rPr sz="27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r>
              <a:rPr sz="27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4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7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95" dirty="0">
                <a:solidFill>
                  <a:srgbClr val="FFFFFF"/>
                </a:solidFill>
                <a:latin typeface="Verdana"/>
                <a:cs typeface="Verdana"/>
              </a:rPr>
              <a:t>hard</a:t>
            </a:r>
            <a:r>
              <a:rPr sz="275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instances</a:t>
            </a:r>
            <a:endParaRPr sz="2750">
              <a:latin typeface="Verdana"/>
              <a:cs typeface="Verdana"/>
            </a:endParaRPr>
          </a:p>
          <a:p>
            <a:pPr marL="12700" marR="704215">
              <a:lnSpc>
                <a:spcPct val="116100"/>
              </a:lnSpc>
              <a:spcBef>
                <a:spcPts val="2470"/>
              </a:spcBef>
            </a:pPr>
            <a:r>
              <a:rPr sz="2800" spc="-8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28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choice</a:t>
            </a:r>
            <a:r>
              <a:rPr sz="2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8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heuristics</a:t>
            </a:r>
            <a:r>
              <a:rPr sz="28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strongly 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influence</a:t>
            </a:r>
            <a:r>
              <a:rPr sz="28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solving</a:t>
            </a:r>
            <a:r>
              <a:rPr sz="28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efficiency</a:t>
            </a:r>
            <a:endParaRPr sz="2800">
              <a:latin typeface="Verdana"/>
              <a:cs typeface="Verdana"/>
            </a:endParaRPr>
          </a:p>
          <a:p>
            <a:pPr marL="12700" marR="21590">
              <a:lnSpc>
                <a:spcPct val="115900"/>
              </a:lnSpc>
              <a:spcBef>
                <a:spcPts val="2490"/>
              </a:spcBef>
            </a:pPr>
            <a:r>
              <a:rPr sz="2750" spc="-85" dirty="0">
                <a:solidFill>
                  <a:srgbClr val="FF904C"/>
                </a:solidFill>
                <a:latin typeface="Verdana"/>
                <a:cs typeface="Verdana"/>
              </a:rPr>
              <a:t>Our</a:t>
            </a:r>
            <a:r>
              <a:rPr sz="2750" spc="-295" dirty="0">
                <a:solidFill>
                  <a:srgbClr val="FF904C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904C"/>
                </a:solidFill>
                <a:latin typeface="Verdana"/>
                <a:cs typeface="Verdana"/>
              </a:rPr>
              <a:t>goal</a:t>
            </a:r>
            <a:r>
              <a:rPr sz="2750" spc="-185" dirty="0">
                <a:solidFill>
                  <a:srgbClr val="FF904C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7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5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5" dirty="0">
                <a:solidFill>
                  <a:srgbClr val="FFFFFF"/>
                </a:solidFill>
                <a:latin typeface="Verdana"/>
                <a:cs typeface="Verdana"/>
              </a:rPr>
              <a:t>evaluate</a:t>
            </a:r>
            <a:r>
              <a:rPr sz="275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35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27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0" dirty="0">
                <a:solidFill>
                  <a:srgbClr val="FFFFFF"/>
                </a:solidFill>
                <a:latin typeface="Verdana"/>
                <a:cs typeface="Verdana"/>
              </a:rPr>
              <a:t>heuristics</a:t>
            </a:r>
            <a:r>
              <a:rPr sz="275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750" spc="-75" dirty="0">
                <a:solidFill>
                  <a:srgbClr val="FFFFFF"/>
                </a:solidFill>
                <a:latin typeface="Verdana"/>
                <a:cs typeface="Verdana"/>
              </a:rPr>
              <a:t>constraint</a:t>
            </a:r>
            <a:r>
              <a:rPr sz="27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5" dirty="0">
                <a:solidFill>
                  <a:srgbClr val="FFFFFF"/>
                </a:solidFill>
                <a:latin typeface="Verdana"/>
                <a:cs typeface="Verdana"/>
              </a:rPr>
              <a:t>propagation</a:t>
            </a:r>
            <a:r>
              <a:rPr sz="27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40" dirty="0">
                <a:solidFill>
                  <a:srgbClr val="FFFFFF"/>
                </a:solidFill>
                <a:latin typeface="Verdana"/>
                <a:cs typeface="Verdana"/>
              </a:rPr>
              <a:t>enhance</a:t>
            </a:r>
            <a:r>
              <a:rPr sz="27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endParaRPr sz="2750">
              <a:latin typeface="Verdana"/>
              <a:cs typeface="Verdana"/>
            </a:endParaRPr>
          </a:p>
          <a:p>
            <a:pPr marL="12700" marR="1471930">
              <a:lnSpc>
                <a:spcPct val="115900"/>
              </a:lnSpc>
              <a:spcBef>
                <a:spcPts val="2070"/>
              </a:spcBef>
            </a:pP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r>
              <a:rPr sz="27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7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puzzles</a:t>
            </a:r>
            <a:r>
              <a:rPr sz="27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8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7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20" dirty="0">
                <a:solidFill>
                  <a:srgbClr val="FFFFFF"/>
                </a:solidFill>
                <a:latin typeface="Verdana"/>
                <a:cs typeface="Verdana"/>
              </a:rPr>
              <a:t>minimal</a:t>
            </a:r>
            <a:r>
              <a:rPr sz="275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clues </a:t>
            </a:r>
            <a:r>
              <a:rPr sz="2750" spc="-2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275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4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7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challenge</a:t>
            </a:r>
            <a:r>
              <a:rPr sz="27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7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greatest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9144000" cy="102869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8818" y="1070723"/>
            <a:ext cx="856361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-120" dirty="0"/>
              <a:t>Dataset</a:t>
            </a:r>
            <a:r>
              <a:rPr sz="8500" spc="-785" dirty="0"/>
              <a:t> </a:t>
            </a:r>
            <a:r>
              <a:rPr sz="8500" spc="-135" dirty="0"/>
              <a:t>Overview</a:t>
            </a:r>
            <a:endParaRPr sz="85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2571750"/>
            <a:ext cx="2838450" cy="428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1894" y="3081685"/>
            <a:ext cx="7285990" cy="705675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76200" marR="583565" indent="19050">
              <a:lnSpc>
                <a:spcPct val="123700"/>
              </a:lnSpc>
              <a:spcBef>
                <a:spcPts val="1345"/>
              </a:spcBef>
            </a:pPr>
            <a:r>
              <a:rPr sz="6000" b="1" spc="120" baseline="-11805" dirty="0">
                <a:solidFill>
                  <a:srgbClr val="FF8025"/>
                </a:solidFill>
                <a:latin typeface="Trebuchet MS"/>
                <a:cs typeface="Trebuchet MS"/>
              </a:rPr>
              <a:t>1,000(4×250)</a:t>
            </a:r>
            <a:r>
              <a:rPr sz="6000" b="1" spc="-427" baseline="-11805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750" spc="-50" dirty="0">
                <a:solidFill>
                  <a:srgbClr val="FFFFFF"/>
                </a:solidFill>
                <a:latin typeface="Verdana"/>
                <a:cs typeface="Verdana"/>
              </a:rPr>
              <a:t>Sudoku</a:t>
            </a:r>
            <a:r>
              <a:rPr sz="275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puzzles </a:t>
            </a:r>
            <a:r>
              <a:rPr sz="2700" spc="-7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7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Verdana"/>
                <a:cs typeface="Verdana"/>
              </a:rPr>
              <a:t>Kaggle's</a:t>
            </a:r>
            <a:r>
              <a:rPr sz="27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FFFFFF"/>
                </a:solidFill>
                <a:latin typeface="Verdana"/>
                <a:cs typeface="Verdana"/>
              </a:rPr>
              <a:t>“1</a:t>
            </a:r>
            <a:r>
              <a:rPr sz="2700" spc="-40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0" dirty="0">
                <a:solidFill>
                  <a:srgbClr val="FFFFFF"/>
                </a:solidFill>
                <a:latin typeface="Verdana"/>
                <a:cs typeface="Verdana"/>
              </a:rPr>
              <a:t>Million</a:t>
            </a:r>
            <a:r>
              <a:rPr sz="27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70" dirty="0">
                <a:solidFill>
                  <a:srgbClr val="FFFFFF"/>
                </a:solidFill>
                <a:latin typeface="Verdana"/>
                <a:cs typeface="Verdana"/>
              </a:rPr>
              <a:t>Sudoku</a:t>
            </a:r>
            <a:r>
              <a:rPr sz="27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Verdana"/>
                <a:cs typeface="Verdana"/>
              </a:rPr>
              <a:t>Games” </a:t>
            </a:r>
            <a:r>
              <a:rPr sz="2700" spc="-8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7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FFFFFF"/>
                </a:solidFill>
                <a:latin typeface="Verdana"/>
                <a:cs typeface="Verdana"/>
              </a:rPr>
              <a:t>public</a:t>
            </a:r>
            <a:r>
              <a:rPr sz="27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17-</a:t>
            </a:r>
            <a:r>
              <a:rPr sz="2700" dirty="0">
                <a:solidFill>
                  <a:srgbClr val="FFFFFF"/>
                </a:solidFill>
                <a:latin typeface="Verdana"/>
                <a:cs typeface="Verdana"/>
              </a:rPr>
              <a:t>clue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Verdana"/>
                <a:cs typeface="Verdana"/>
              </a:rPr>
              <a:t>minimal</a:t>
            </a:r>
            <a:r>
              <a:rPr sz="27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Verdana"/>
                <a:cs typeface="Verdana"/>
              </a:rPr>
              <a:t>puzzles</a:t>
            </a:r>
            <a:endParaRPr sz="2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700">
              <a:latin typeface="Verdana"/>
              <a:cs typeface="Verdana"/>
            </a:endParaRPr>
          </a:p>
          <a:p>
            <a:pPr marL="76200" marR="607695">
              <a:lnSpc>
                <a:spcPct val="110100"/>
              </a:lnSpc>
              <a:spcBef>
                <a:spcPts val="5"/>
              </a:spcBef>
            </a:pPr>
            <a:r>
              <a:rPr sz="2950" spc="-75" dirty="0">
                <a:solidFill>
                  <a:srgbClr val="FFFFFF"/>
                </a:solidFill>
                <a:latin typeface="Verdana"/>
                <a:cs typeface="Verdana"/>
              </a:rPr>
              <a:t>Difficulty</a:t>
            </a:r>
            <a:r>
              <a:rPr sz="295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5" dirty="0">
                <a:solidFill>
                  <a:srgbClr val="FFFFFF"/>
                </a:solidFill>
                <a:latin typeface="Verdana"/>
                <a:cs typeface="Verdana"/>
              </a:rPr>
              <a:t>levels:</a:t>
            </a:r>
            <a:r>
              <a:rPr sz="295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b="1" spc="50" dirty="0">
                <a:solidFill>
                  <a:srgbClr val="FF8025"/>
                </a:solidFill>
                <a:latin typeface="Trebuchet MS"/>
                <a:cs typeface="Trebuchet MS"/>
              </a:rPr>
              <a:t>Easy,</a:t>
            </a:r>
            <a:r>
              <a:rPr sz="2950" b="1" spc="60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950" b="1" dirty="0">
                <a:solidFill>
                  <a:srgbClr val="FF8025"/>
                </a:solidFill>
                <a:latin typeface="Trebuchet MS"/>
                <a:cs typeface="Trebuchet MS"/>
              </a:rPr>
              <a:t>Medium,</a:t>
            </a:r>
            <a:r>
              <a:rPr sz="2950" b="1" spc="-20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950" b="1" spc="-10" dirty="0">
                <a:solidFill>
                  <a:srgbClr val="FF8025"/>
                </a:solidFill>
                <a:latin typeface="Trebuchet MS"/>
                <a:cs typeface="Trebuchet MS"/>
              </a:rPr>
              <a:t>Hard, </a:t>
            </a:r>
            <a:r>
              <a:rPr sz="2950" b="1" spc="95" dirty="0">
                <a:solidFill>
                  <a:srgbClr val="FF8025"/>
                </a:solidFill>
                <a:latin typeface="Trebuchet MS"/>
                <a:cs typeface="Trebuchet MS"/>
              </a:rPr>
              <a:t>Expert</a:t>
            </a:r>
            <a:r>
              <a:rPr sz="2950" b="1" spc="215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sz="29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9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clues</a:t>
            </a:r>
            <a:r>
              <a:rPr sz="29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95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Verdana"/>
                <a:cs typeface="Verdana"/>
              </a:rPr>
              <a:t>source ratings</a:t>
            </a:r>
            <a:endParaRPr sz="2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950">
              <a:latin typeface="Verdana"/>
              <a:cs typeface="Verdana"/>
            </a:endParaRPr>
          </a:p>
          <a:p>
            <a:pPr marL="76200" marR="30480">
              <a:lnSpc>
                <a:spcPct val="111100"/>
              </a:lnSpc>
            </a:pP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Each</a:t>
            </a:r>
            <a:r>
              <a:rPr sz="27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puzzle</a:t>
            </a:r>
            <a:r>
              <a:rPr sz="27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dirty="0">
                <a:solidFill>
                  <a:srgbClr val="FFFFFF"/>
                </a:solidFill>
                <a:latin typeface="Verdana"/>
                <a:cs typeface="Verdana"/>
              </a:rPr>
              <a:t>includes</a:t>
            </a:r>
            <a:r>
              <a:rPr sz="27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dirty="0">
                <a:solidFill>
                  <a:srgbClr val="FF8025"/>
                </a:solidFill>
                <a:latin typeface="Trebuchet MS"/>
                <a:cs typeface="Trebuchet MS"/>
              </a:rPr>
              <a:t>grid,</a:t>
            </a:r>
            <a:r>
              <a:rPr sz="2750" b="1" spc="10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750" b="1" spc="65" dirty="0">
                <a:solidFill>
                  <a:srgbClr val="FF8025"/>
                </a:solidFill>
                <a:latin typeface="Trebuchet MS"/>
                <a:cs typeface="Trebuchet MS"/>
              </a:rPr>
              <a:t>difficulty</a:t>
            </a:r>
            <a:r>
              <a:rPr sz="2750" b="1" spc="95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750" b="1" spc="-10" dirty="0">
                <a:solidFill>
                  <a:srgbClr val="FF8025"/>
                </a:solidFill>
                <a:latin typeface="Trebuchet MS"/>
                <a:cs typeface="Trebuchet MS"/>
              </a:rPr>
              <a:t>label, </a:t>
            </a:r>
            <a:r>
              <a:rPr sz="2750" b="1" spc="45" dirty="0">
                <a:solidFill>
                  <a:srgbClr val="FF8025"/>
                </a:solidFill>
                <a:latin typeface="Trebuchet MS"/>
                <a:cs typeface="Trebuchet MS"/>
              </a:rPr>
              <a:t>verified</a:t>
            </a:r>
            <a:r>
              <a:rPr sz="2750" b="1" spc="65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750" b="1" spc="75" dirty="0">
                <a:solidFill>
                  <a:srgbClr val="FF8025"/>
                </a:solidFill>
                <a:latin typeface="Trebuchet MS"/>
                <a:cs typeface="Trebuchet MS"/>
              </a:rPr>
              <a:t>solution,</a:t>
            </a:r>
            <a:r>
              <a:rPr sz="2750" b="1" spc="155" dirty="0">
                <a:solidFill>
                  <a:srgbClr val="FF8025"/>
                </a:solidFill>
                <a:latin typeface="Trebuchet MS"/>
                <a:cs typeface="Trebuchet MS"/>
              </a:rPr>
              <a:t> </a:t>
            </a:r>
            <a:r>
              <a:rPr sz="2750" spc="-5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75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60" dirty="0">
                <a:solidFill>
                  <a:srgbClr val="FFFFFF"/>
                </a:solidFill>
                <a:latin typeface="Verdana"/>
                <a:cs typeface="Verdana"/>
              </a:rPr>
              <a:t>empty</a:t>
            </a:r>
            <a:r>
              <a:rPr sz="275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Verdana"/>
                <a:cs typeface="Verdana"/>
              </a:rPr>
              <a:t>cell</a:t>
            </a:r>
            <a:r>
              <a:rPr sz="275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Verdana"/>
                <a:cs typeface="Verdana"/>
              </a:rPr>
              <a:t>count</a:t>
            </a:r>
            <a:endParaRPr sz="2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750">
              <a:latin typeface="Verdana"/>
              <a:cs typeface="Verdana"/>
            </a:endParaRPr>
          </a:p>
          <a:p>
            <a:pPr marL="76200" marR="527685">
              <a:lnSpc>
                <a:spcPct val="108100"/>
              </a:lnSpc>
            </a:pP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9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30" dirty="0">
                <a:solidFill>
                  <a:srgbClr val="FFFFFF"/>
                </a:solidFill>
                <a:latin typeface="Verdana"/>
                <a:cs typeface="Verdana"/>
              </a:rPr>
              <a:t>same</a:t>
            </a:r>
            <a:r>
              <a:rPr sz="29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Verdana"/>
                <a:cs typeface="Verdana"/>
              </a:rPr>
              <a:t>puzzles</a:t>
            </a:r>
            <a:r>
              <a:rPr sz="29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55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95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used</a:t>
            </a:r>
            <a:r>
              <a:rPr sz="295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3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95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25" dirty="0">
                <a:solidFill>
                  <a:srgbClr val="FFFFFF"/>
                </a:solidFill>
                <a:latin typeface="Verdana"/>
                <a:cs typeface="Verdana"/>
              </a:rPr>
              <a:t>all </a:t>
            </a:r>
            <a:r>
              <a:rPr sz="2950" spc="-80" dirty="0">
                <a:solidFill>
                  <a:srgbClr val="FFFFFF"/>
                </a:solidFill>
                <a:latin typeface="Verdana"/>
                <a:cs typeface="Verdana"/>
              </a:rPr>
              <a:t>algorithms</a:t>
            </a:r>
            <a:r>
              <a:rPr sz="29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9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45" dirty="0">
                <a:solidFill>
                  <a:srgbClr val="FFFFFF"/>
                </a:solidFill>
                <a:latin typeface="Verdana"/>
                <a:cs typeface="Verdana"/>
              </a:rPr>
              <a:t>ensure</a:t>
            </a:r>
            <a:r>
              <a:rPr sz="295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0" dirty="0">
                <a:solidFill>
                  <a:srgbClr val="FFFFFF"/>
                </a:solidFill>
                <a:latin typeface="Verdana"/>
                <a:cs typeface="Verdana"/>
              </a:rPr>
              <a:t>fair</a:t>
            </a:r>
            <a:r>
              <a:rPr sz="295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Verdana"/>
                <a:cs typeface="Verdana"/>
              </a:rPr>
              <a:t>comparison</a:t>
            </a:r>
            <a:endParaRPr sz="2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40335" marR="5080">
              <a:lnSpc>
                <a:spcPts val="7650"/>
              </a:lnSpc>
              <a:spcBef>
                <a:spcPts val="1680"/>
              </a:spcBef>
            </a:pPr>
            <a:r>
              <a:rPr sz="7700" spc="-135" dirty="0"/>
              <a:t>AI</a:t>
            </a:r>
            <a:r>
              <a:rPr sz="7700" spc="-930" dirty="0"/>
              <a:t> </a:t>
            </a:r>
            <a:r>
              <a:rPr sz="7700" spc="-80" dirty="0"/>
              <a:t>Search</a:t>
            </a:r>
            <a:r>
              <a:rPr sz="7700" spc="-735" dirty="0"/>
              <a:t> </a:t>
            </a:r>
            <a:r>
              <a:rPr sz="7700" spc="-50" dirty="0"/>
              <a:t>Algorithms </a:t>
            </a:r>
            <a:r>
              <a:rPr sz="7700" spc="-300" dirty="0"/>
              <a:t>Implemented</a:t>
            </a:r>
            <a:endParaRPr sz="7700"/>
          </a:p>
        </p:txBody>
      </p:sp>
      <p:sp>
        <p:nvSpPr>
          <p:cNvPr id="5" name="object 5"/>
          <p:cNvSpPr txBox="1"/>
          <p:nvPr/>
        </p:nvSpPr>
        <p:spPr>
          <a:xfrm>
            <a:off x="1285900" y="3828110"/>
            <a:ext cx="390525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b="1" spc="-50" dirty="0">
                <a:solidFill>
                  <a:srgbClr val="D36A28"/>
                </a:solidFill>
                <a:latin typeface="Trebuchet MS"/>
                <a:cs typeface="Trebuchet MS"/>
              </a:rPr>
              <a:t>0</a:t>
            </a:r>
            <a:endParaRPr sz="4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4900" b="1" spc="-50" dirty="0">
                <a:solidFill>
                  <a:srgbClr val="D36A28"/>
                </a:solidFill>
                <a:latin typeface="Trebuchet MS"/>
                <a:cs typeface="Trebuchet MS"/>
              </a:rPr>
              <a:t>1</a:t>
            </a:r>
            <a:endParaRPr sz="4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25"/>
              </a:spcBef>
            </a:pPr>
            <a:r>
              <a:rPr sz="4200" b="1" spc="-50" dirty="0">
                <a:solidFill>
                  <a:srgbClr val="D36A28"/>
                </a:solidFill>
                <a:latin typeface="Trebuchet MS"/>
                <a:cs typeface="Trebuchet MS"/>
              </a:rPr>
              <a:t>0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5363" y="3684049"/>
            <a:ext cx="6040755" cy="91186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2300" b="1" spc="55" dirty="0">
                <a:solidFill>
                  <a:srgbClr val="FFFFFF"/>
                </a:solidFill>
                <a:latin typeface="Trebuchet MS"/>
                <a:cs typeface="Trebuchet MS"/>
              </a:rPr>
              <a:t>Basic</a:t>
            </a:r>
            <a:r>
              <a:rPr sz="2300" b="1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rebuchet MS"/>
                <a:cs typeface="Trebuchet MS"/>
              </a:rPr>
              <a:t>Backtracking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baseline</a:t>
            </a:r>
            <a:r>
              <a:rPr sz="19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solver</a:t>
            </a:r>
            <a:r>
              <a:rPr sz="19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0" dirty="0">
                <a:solidFill>
                  <a:srgbClr val="FFFFFF"/>
                </a:solidFill>
                <a:latin typeface="Verdana"/>
                <a:cs typeface="Verdana"/>
              </a:rPr>
              <a:t>exploring</a:t>
            </a:r>
            <a:r>
              <a:rPr sz="195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possibilities</a:t>
            </a:r>
            <a:r>
              <a:rPr sz="19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exhaustively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5363" y="4916790"/>
            <a:ext cx="7307580" cy="9302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Backtracking</a:t>
            </a:r>
            <a:r>
              <a:rPr sz="2400" b="1" spc="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2400" b="1" spc="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40" dirty="0">
                <a:solidFill>
                  <a:srgbClr val="FFFFFF"/>
                </a:solidFill>
                <a:latin typeface="Trebuchet MS"/>
                <a:cs typeface="Trebuchet MS"/>
              </a:rPr>
              <a:t>MRV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selects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cell</a:t>
            </a:r>
            <a:r>
              <a:rPr sz="20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fewer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possible</a:t>
            </a:r>
            <a:r>
              <a:rPr sz="20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reduce</a:t>
            </a:r>
            <a:r>
              <a:rPr sz="20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branching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6000750"/>
            <a:ext cx="10677512" cy="38576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233" y="6368021"/>
            <a:ext cx="33464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0</a:t>
            </a:r>
            <a:endParaRPr sz="4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5747" y="6498376"/>
            <a:ext cx="338455" cy="367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95"/>
              </a:lnSpc>
              <a:spcBef>
                <a:spcPts val="100"/>
              </a:spcBef>
            </a:pPr>
            <a:r>
              <a:rPr sz="4200" b="1" spc="-50" dirty="0">
                <a:solidFill>
                  <a:srgbClr val="D36A28"/>
                </a:solidFill>
                <a:latin typeface="Trebuchet MS"/>
                <a:cs typeface="Trebuchet MS"/>
              </a:rPr>
              <a:t>2</a:t>
            </a:r>
            <a:endParaRPr sz="4200">
              <a:latin typeface="Trebuchet MS"/>
              <a:cs typeface="Trebuchet MS"/>
            </a:endParaRPr>
          </a:p>
          <a:p>
            <a:pPr marL="13970">
              <a:lnSpc>
                <a:spcPts val="4435"/>
              </a:lnSpc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3</a:t>
            </a:r>
            <a:endParaRPr sz="4150">
              <a:latin typeface="Trebuchet MS"/>
              <a:cs typeface="Trebuchet MS"/>
            </a:endParaRPr>
          </a:p>
          <a:p>
            <a:pPr marL="12700">
              <a:lnSpc>
                <a:spcPts val="4980"/>
              </a:lnSpc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0</a:t>
            </a:r>
            <a:endParaRPr sz="4150">
              <a:latin typeface="Trebuchet MS"/>
              <a:cs typeface="Trebuchet MS"/>
            </a:endParaRPr>
          </a:p>
          <a:p>
            <a:pPr marL="12700">
              <a:lnSpc>
                <a:spcPts val="4905"/>
              </a:lnSpc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4</a:t>
            </a:r>
            <a:endParaRPr sz="4150">
              <a:latin typeface="Trebuchet MS"/>
              <a:cs typeface="Trebuchet MS"/>
            </a:endParaRPr>
          </a:p>
          <a:p>
            <a:pPr marL="13335">
              <a:lnSpc>
                <a:spcPts val="4905"/>
              </a:lnSpc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0</a:t>
            </a:r>
            <a:endParaRPr sz="4150">
              <a:latin typeface="Trebuchet MS"/>
              <a:cs typeface="Trebuchet MS"/>
            </a:endParaRPr>
          </a:p>
          <a:p>
            <a:pPr marL="13335">
              <a:lnSpc>
                <a:spcPct val="100000"/>
              </a:lnSpc>
            </a:pPr>
            <a:r>
              <a:rPr sz="4150" b="1" spc="-50" dirty="0">
                <a:solidFill>
                  <a:srgbClr val="D36A28"/>
                </a:solidFill>
                <a:latin typeface="Trebuchet MS"/>
                <a:cs typeface="Trebuchet MS"/>
              </a:rPr>
              <a:t>5</a:t>
            </a:r>
            <a:endParaRPr sz="4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85363" y="6169794"/>
            <a:ext cx="4786630" cy="93154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350" b="1" dirty="0">
                <a:solidFill>
                  <a:srgbClr val="FFFFFF"/>
                </a:solidFill>
                <a:latin typeface="Trebuchet MS"/>
                <a:cs typeface="Trebuchet MS"/>
              </a:rPr>
              <a:t>Backtracking</a:t>
            </a:r>
            <a:r>
              <a:rPr sz="235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1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2350" b="1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1" spc="60" dirty="0">
                <a:solidFill>
                  <a:srgbClr val="FFFFFF"/>
                </a:solidFill>
                <a:latin typeface="Trebuchet MS"/>
                <a:cs typeface="Trebuchet MS"/>
              </a:rPr>
              <a:t>Forward</a:t>
            </a:r>
            <a:r>
              <a:rPr sz="2350" b="1" spc="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1" spc="-10" dirty="0">
                <a:solidFill>
                  <a:srgbClr val="FFFFFF"/>
                </a:solidFill>
                <a:latin typeface="Trebuchet MS"/>
                <a:cs typeface="Trebuchet MS"/>
              </a:rPr>
              <a:t>Checking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000" spc="-30" dirty="0">
                <a:solidFill>
                  <a:srgbClr val="FFFFFF"/>
                </a:solidFill>
                <a:latin typeface="Verdana"/>
                <a:cs typeface="Verdana"/>
              </a:rPr>
              <a:t>prunes</a:t>
            </a:r>
            <a:r>
              <a:rPr sz="20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Verdana"/>
                <a:cs typeface="Verdana"/>
              </a:rPr>
              <a:t>invalid</a:t>
            </a:r>
            <a:r>
              <a:rPr sz="20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future</a:t>
            </a:r>
            <a:r>
              <a:rPr sz="20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Verdana"/>
                <a:cs typeface="Verdana"/>
              </a:rPr>
              <a:t>paths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Verdana"/>
                <a:cs typeface="Verdana"/>
              </a:rPr>
              <a:t>early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5363" y="7416586"/>
            <a:ext cx="4665345" cy="9385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400" b="1" spc="65" dirty="0">
                <a:solidFill>
                  <a:srgbClr val="FFFFFF"/>
                </a:solidFill>
                <a:latin typeface="Trebuchet MS"/>
                <a:cs typeface="Trebuchet MS"/>
              </a:rPr>
              <a:t>MRV</a:t>
            </a:r>
            <a:r>
              <a:rPr sz="24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2400" b="1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FFFFFF"/>
                </a:solidFill>
                <a:latin typeface="Trebuchet MS"/>
                <a:cs typeface="Trebuchet MS"/>
              </a:rPr>
              <a:t>Forward</a:t>
            </a:r>
            <a:r>
              <a:rPr sz="2400" b="1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Checking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combines</a:t>
            </a:r>
            <a:r>
              <a:rPr sz="19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0" dirty="0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sz="19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Verdana"/>
                <a:cs typeface="Verdana"/>
              </a:rPr>
              <a:t>heuristics</a:t>
            </a:r>
            <a:r>
              <a:rPr sz="19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4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9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efficiency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5363" y="8676702"/>
            <a:ext cx="7706995" cy="928369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400" b="1" spc="-130" dirty="0">
                <a:solidFill>
                  <a:srgbClr val="FFFFFF"/>
                </a:solidFill>
                <a:latin typeface="Trebuchet MS"/>
                <a:cs typeface="Trebuchet MS"/>
              </a:rPr>
              <a:t>AC-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400" b="1" spc="4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rebuchet MS"/>
                <a:cs typeface="Trebuchet MS"/>
              </a:rPr>
              <a:t>ConstraintPropagation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enforces</a:t>
            </a:r>
            <a:r>
              <a:rPr sz="19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5" dirty="0">
                <a:solidFill>
                  <a:srgbClr val="FFFFFF"/>
                </a:solidFill>
                <a:latin typeface="Verdana"/>
                <a:cs typeface="Verdana"/>
              </a:rPr>
              <a:t>arc-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consistency</a:t>
            </a:r>
            <a:r>
              <a:rPr sz="19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9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0" dirty="0">
                <a:solidFill>
                  <a:srgbClr val="FFFFFF"/>
                </a:solidFill>
                <a:latin typeface="Verdana"/>
                <a:cs typeface="Verdana"/>
              </a:rPr>
              <a:t>prune</a:t>
            </a:r>
            <a:r>
              <a:rPr sz="19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70" dirty="0">
                <a:solidFill>
                  <a:srgbClr val="FFFFFF"/>
                </a:solidFill>
                <a:latin typeface="Verdana"/>
                <a:cs typeface="Verdana"/>
              </a:rPr>
              <a:t>domains</a:t>
            </a:r>
            <a:r>
              <a:rPr sz="19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65" dirty="0">
                <a:solidFill>
                  <a:srgbClr val="FFFFFF"/>
                </a:solidFill>
                <a:latin typeface="Verdana"/>
                <a:cs typeface="Verdana"/>
              </a:rPr>
              <a:t>before/during</a:t>
            </a:r>
            <a:r>
              <a:rPr sz="195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7379" y="1285316"/>
            <a:ext cx="867346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spc="-50" dirty="0"/>
              <a:t>Evaluation</a:t>
            </a:r>
            <a:r>
              <a:rPr sz="6500" spc="-415" dirty="0"/>
              <a:t> </a:t>
            </a:r>
            <a:r>
              <a:rPr sz="6500" spc="120" dirty="0"/>
              <a:t>Metrics</a:t>
            </a:r>
            <a:r>
              <a:rPr sz="6500" spc="-185" dirty="0"/>
              <a:t> </a:t>
            </a:r>
            <a:r>
              <a:rPr sz="6500" spc="-145" dirty="0"/>
              <a:t>and</a:t>
            </a:r>
            <a:endParaRPr sz="65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1700" y="1714500"/>
            <a:ext cx="6762750" cy="72866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7379" y="2104466"/>
            <a:ext cx="1037272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b="1" spc="-20" dirty="0">
                <a:solidFill>
                  <a:srgbClr val="FFFFFF"/>
                </a:solidFill>
                <a:latin typeface="Trebuchet MS"/>
                <a:cs typeface="Trebuchet MS"/>
              </a:rPr>
              <a:t>Performance</a:t>
            </a:r>
            <a:r>
              <a:rPr sz="6500" b="1" spc="-4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500" b="1" spc="-10" dirty="0">
                <a:solidFill>
                  <a:srgbClr val="FFFFFF"/>
                </a:solidFill>
                <a:latin typeface="Trebuchet MS"/>
                <a:cs typeface="Trebuchet MS"/>
              </a:rPr>
              <a:t>Measurement</a:t>
            </a:r>
            <a:endParaRPr sz="65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3638562"/>
            <a:ext cx="2838450" cy="2190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7379" y="4555045"/>
            <a:ext cx="6377305" cy="444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70" dirty="0">
                <a:solidFill>
                  <a:srgbClr val="FFFFFF"/>
                </a:solidFill>
                <a:latin typeface="Verdana"/>
                <a:cs typeface="Verdana"/>
              </a:rPr>
              <a:t>Solving</a:t>
            </a:r>
            <a:r>
              <a:rPr sz="3200" spc="-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3100" spc="-30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r>
              <a:rPr sz="31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dirty="0">
                <a:solidFill>
                  <a:srgbClr val="FFFFFF"/>
                </a:solidFill>
                <a:latin typeface="Verdana"/>
                <a:cs typeface="Verdana"/>
              </a:rPr>
              <a:t>nodes</a:t>
            </a:r>
            <a:r>
              <a:rPr sz="3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Verdana"/>
                <a:cs typeface="Verdana"/>
              </a:rPr>
              <a:t>explored</a:t>
            </a:r>
            <a:endParaRPr sz="3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90"/>
              </a:spcBef>
            </a:pPr>
            <a:r>
              <a:rPr sz="3150" dirty="0">
                <a:solidFill>
                  <a:srgbClr val="FFFFFF"/>
                </a:solidFill>
                <a:latin typeface="Verdana"/>
                <a:cs typeface="Verdana"/>
              </a:rPr>
              <a:t>Number</a:t>
            </a:r>
            <a:r>
              <a:rPr sz="3150" spc="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5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3150" spc="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50" spc="-10" dirty="0">
                <a:solidFill>
                  <a:srgbClr val="FFFFFF"/>
                </a:solidFill>
                <a:latin typeface="Verdana"/>
                <a:cs typeface="Verdana"/>
              </a:rPr>
              <a:t>backtracks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sz="3100" spc="50" dirty="0">
                <a:solidFill>
                  <a:srgbClr val="FFFFFF"/>
                </a:solidFill>
                <a:latin typeface="Verdana"/>
                <a:cs typeface="Verdana"/>
              </a:rPr>
              <a:t>Success</a:t>
            </a:r>
            <a:r>
              <a:rPr sz="3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20" dirty="0">
                <a:solidFill>
                  <a:srgbClr val="FFFFFF"/>
                </a:solidFill>
                <a:latin typeface="Verdana"/>
                <a:cs typeface="Verdana"/>
              </a:rPr>
              <a:t>rate</a:t>
            </a:r>
            <a:endParaRPr sz="3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95"/>
              </a:spcBef>
            </a:pPr>
            <a:endParaRPr sz="3100">
              <a:latin typeface="Verdana"/>
              <a:cs typeface="Verdana"/>
            </a:endParaRPr>
          </a:p>
          <a:p>
            <a:pPr marL="12700" marR="5080">
              <a:lnSpc>
                <a:spcPts val="3670"/>
              </a:lnSpc>
            </a:pPr>
            <a:r>
              <a:rPr sz="3100" dirty="0">
                <a:solidFill>
                  <a:srgbClr val="FFFFFF"/>
                </a:solidFill>
                <a:latin typeface="Verdana"/>
                <a:cs typeface="Verdana"/>
              </a:rPr>
              <a:t>Measured</a:t>
            </a:r>
            <a:r>
              <a:rPr sz="3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Verdana"/>
                <a:cs typeface="Verdana"/>
              </a:rPr>
              <a:t>consistently</a:t>
            </a:r>
            <a:r>
              <a:rPr sz="3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31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Verdana"/>
                <a:cs typeface="Verdana"/>
              </a:rPr>
              <a:t>all </a:t>
            </a:r>
            <a:r>
              <a:rPr sz="3100" spc="-50" dirty="0">
                <a:solidFill>
                  <a:srgbClr val="FFFFFF"/>
                </a:solidFill>
                <a:latin typeface="Verdana"/>
                <a:cs typeface="Verdana"/>
              </a:rPr>
              <a:t>difficulty</a:t>
            </a:r>
            <a:r>
              <a:rPr sz="31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dirty="0">
                <a:solidFill>
                  <a:srgbClr val="FFFFFF"/>
                </a:solidFill>
                <a:latin typeface="Verdana"/>
                <a:cs typeface="Verdana"/>
              </a:rPr>
              <a:t>levels</a:t>
            </a:r>
            <a:r>
              <a:rPr sz="31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8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10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Verdana"/>
                <a:cs typeface="Verdana"/>
              </a:rPr>
              <a:t>algorithms</a:t>
            </a:r>
            <a:endParaRPr sz="3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0787" y="0"/>
            <a:ext cx="8277212" cy="536256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3131" rIns="0" bIns="0" rtlCol="0">
            <a:spAutoFit/>
          </a:bodyPr>
          <a:lstStyle/>
          <a:p>
            <a:pPr marL="102870" marR="5080">
              <a:lnSpc>
                <a:spcPts val="7800"/>
              </a:lnSpc>
              <a:spcBef>
                <a:spcPts val="1660"/>
              </a:spcBef>
            </a:pPr>
            <a:r>
              <a:rPr spc="114" dirty="0"/>
              <a:t>System</a:t>
            </a:r>
            <a:r>
              <a:rPr spc="-550" dirty="0"/>
              <a:t> </a:t>
            </a:r>
            <a:r>
              <a:rPr spc="-120" dirty="0"/>
              <a:t>Architecture </a:t>
            </a:r>
            <a:r>
              <a:rPr spc="-305" dirty="0"/>
              <a:t>and</a:t>
            </a:r>
            <a:r>
              <a:rPr spc="-1170" dirty="0"/>
              <a:t> </a:t>
            </a:r>
            <a:r>
              <a:rPr spc="65" dirty="0"/>
              <a:t>Workflow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3429000"/>
            <a:ext cx="2190750" cy="2190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818" y="3952595"/>
            <a:ext cx="8808085" cy="88900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240"/>
              </a:spcBef>
            </a:pPr>
            <a:r>
              <a:rPr sz="2850" spc="-2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85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30" dirty="0">
                <a:solidFill>
                  <a:srgbClr val="FFFFFF"/>
                </a:solidFill>
                <a:latin typeface="Verdana"/>
                <a:cs typeface="Verdana"/>
              </a:rPr>
              <a:t>modular</a:t>
            </a:r>
            <a:r>
              <a:rPr sz="2850" spc="-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95" dirty="0">
                <a:solidFill>
                  <a:srgbClr val="FFFFFF"/>
                </a:solidFill>
                <a:latin typeface="Verdana"/>
                <a:cs typeface="Verdana"/>
              </a:rPr>
              <a:t>pipeline</a:t>
            </a:r>
            <a:r>
              <a:rPr sz="285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35" dirty="0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sz="285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90" dirty="0">
                <a:solidFill>
                  <a:srgbClr val="FFFFFF"/>
                </a:solidFill>
                <a:latin typeface="Verdana"/>
                <a:cs typeface="Verdana"/>
              </a:rPr>
              <a:t>solves,</a:t>
            </a:r>
            <a:r>
              <a:rPr sz="285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25" dirty="0">
                <a:solidFill>
                  <a:srgbClr val="FFFFFF"/>
                </a:solidFill>
                <a:latin typeface="Verdana"/>
                <a:cs typeface="Verdana"/>
              </a:rPr>
              <a:t>analyzes,</a:t>
            </a:r>
            <a:r>
              <a:rPr sz="285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850" spc="-75" dirty="0">
                <a:solidFill>
                  <a:srgbClr val="FFFFFF"/>
                </a:solidFill>
                <a:latin typeface="Verdana"/>
                <a:cs typeface="Verdana"/>
              </a:rPr>
              <a:t>compares</a:t>
            </a:r>
            <a:r>
              <a:rPr sz="285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25" dirty="0">
                <a:solidFill>
                  <a:srgbClr val="FFFFFF"/>
                </a:solidFill>
                <a:latin typeface="Verdana"/>
                <a:cs typeface="Verdana"/>
              </a:rPr>
              <a:t>Sudoku</a:t>
            </a:r>
            <a:r>
              <a:rPr sz="2850" spc="-3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70" dirty="0">
                <a:solidFill>
                  <a:srgbClr val="FFFFFF"/>
                </a:solidFill>
                <a:latin typeface="Verdana"/>
                <a:cs typeface="Verdana"/>
              </a:rPr>
              <a:t>puzzles</a:t>
            </a:r>
            <a:r>
              <a:rPr sz="285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3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850" spc="-3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160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850" spc="-5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75" dirty="0">
                <a:solidFill>
                  <a:srgbClr val="FFFFFF"/>
                </a:solidFill>
                <a:latin typeface="Verdana"/>
                <a:cs typeface="Verdana"/>
              </a:rPr>
              <a:t>search</a:t>
            </a:r>
            <a:r>
              <a:rPr sz="285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50" spc="-55" dirty="0">
                <a:solidFill>
                  <a:srgbClr val="FFFFFF"/>
                </a:solidFill>
                <a:latin typeface="Verdana"/>
                <a:cs typeface="Verdana"/>
              </a:rPr>
              <a:t>algorithms</a:t>
            </a:r>
            <a:endParaRPr sz="28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" y="5143525"/>
            <a:ext cx="3057537" cy="36480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5758" y="5966955"/>
            <a:ext cx="60642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800" b="1" spc="-50" dirty="0">
                <a:solidFill>
                  <a:srgbClr val="E37724"/>
                </a:solidFill>
                <a:latin typeface="Trebuchet MS"/>
                <a:cs typeface="Trebuchet MS"/>
              </a:rPr>
              <a:t>1</a:t>
            </a:r>
            <a:endParaRPr sz="7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8636" y="6310871"/>
            <a:ext cx="1068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10" dirty="0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1227" y="7355319"/>
            <a:ext cx="190627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2150" spc="-90" dirty="0">
                <a:solidFill>
                  <a:srgbClr val="FFFFFF"/>
                </a:solidFill>
                <a:latin typeface="Verdana"/>
                <a:cs typeface="Verdana"/>
              </a:rPr>
              <a:t>Sudoku</a:t>
            </a:r>
            <a:r>
              <a:rPr sz="21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Verdana"/>
                <a:cs typeface="Verdana"/>
              </a:rPr>
              <a:t>puzzle </a:t>
            </a:r>
            <a:r>
              <a:rPr sz="2150" spc="-7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5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Verdana"/>
                <a:cs typeface="Verdana"/>
              </a:rPr>
              <a:t>dataset </a:t>
            </a:r>
            <a:r>
              <a:rPr sz="2150" spc="-3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15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Verdana"/>
                <a:cs typeface="Verdana"/>
              </a:rPr>
              <a:t>user</a:t>
            </a:r>
            <a:endParaRPr sz="215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76637" y="5143525"/>
            <a:ext cx="14163662" cy="36480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17890" y="6310896"/>
            <a:ext cx="171767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50" b="1" spc="60" dirty="0">
                <a:solidFill>
                  <a:srgbClr val="FFFFFF"/>
                </a:solidFill>
                <a:latin typeface="Trebuchet MS"/>
                <a:cs typeface="Trebuchet MS"/>
              </a:rPr>
              <a:t>AI</a:t>
            </a:r>
            <a:r>
              <a:rPr sz="325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50" b="1" spc="-10" dirty="0">
                <a:solidFill>
                  <a:srgbClr val="FFFFFF"/>
                </a:solidFill>
                <a:latin typeface="Trebuchet MS"/>
                <a:cs typeface="Trebuchet MS"/>
              </a:rPr>
              <a:t>Solver</a:t>
            </a:r>
            <a:endParaRPr sz="32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9549" y="5947930"/>
            <a:ext cx="419036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96640" algn="l"/>
              </a:tabLst>
            </a:pPr>
            <a:r>
              <a:rPr sz="7800" b="1" spc="-50" dirty="0">
                <a:solidFill>
                  <a:srgbClr val="E37724"/>
                </a:solidFill>
                <a:latin typeface="Trebuchet MS"/>
                <a:cs typeface="Trebuchet MS"/>
              </a:rPr>
              <a:t>2</a:t>
            </a:r>
            <a:r>
              <a:rPr sz="7800" b="1" dirty="0">
                <a:solidFill>
                  <a:srgbClr val="E37724"/>
                </a:solidFill>
                <a:latin typeface="Trebuchet MS"/>
                <a:cs typeface="Trebuchet MS"/>
              </a:rPr>
              <a:t>	</a:t>
            </a:r>
            <a:r>
              <a:rPr sz="7800" b="1" spc="-50" dirty="0">
                <a:solidFill>
                  <a:srgbClr val="E37724"/>
                </a:solidFill>
                <a:latin typeface="Trebuchet MS"/>
                <a:cs typeface="Trebuchet MS"/>
              </a:rPr>
              <a:t>3</a:t>
            </a:r>
            <a:endParaRPr sz="7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9188" y="6317246"/>
            <a:ext cx="168211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85" dirty="0">
                <a:solidFill>
                  <a:srgbClr val="FFFFFF"/>
                </a:solidFill>
                <a:latin typeface="Trebuchet MS"/>
                <a:cs typeface="Trebuchet MS"/>
              </a:rPr>
              <a:t>Solution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32412" y="5556072"/>
            <a:ext cx="6210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1" spc="-50" dirty="0">
                <a:solidFill>
                  <a:srgbClr val="E37724"/>
                </a:solidFill>
                <a:latin typeface="Trebuchet MS"/>
                <a:cs typeface="Trebuchet MS"/>
              </a:rPr>
              <a:t>4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29364" y="5938888"/>
            <a:ext cx="2090420" cy="8051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675"/>
              </a:spcBef>
            </a:pPr>
            <a:r>
              <a:rPr sz="2800" b="1" spc="-65" dirty="0">
                <a:solidFill>
                  <a:srgbClr val="FFFFFF"/>
                </a:solidFill>
                <a:latin typeface="Trebuchet MS"/>
                <a:cs typeface="Trebuchet MS"/>
              </a:rPr>
              <a:t>Performance </a:t>
            </a:r>
            <a:r>
              <a:rPr sz="2800" b="1" spc="-10" dirty="0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707108" y="5933630"/>
            <a:ext cx="60642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800" b="1" spc="-50" dirty="0">
                <a:solidFill>
                  <a:srgbClr val="E37724"/>
                </a:solidFill>
                <a:latin typeface="Trebuchet MS"/>
                <a:cs typeface="Trebuchet MS"/>
              </a:rPr>
              <a:t>5</a:t>
            </a:r>
            <a:endParaRPr sz="7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223807" y="6341046"/>
            <a:ext cx="206883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10" dirty="0">
                <a:solidFill>
                  <a:srgbClr val="FFFFFF"/>
                </a:solidFill>
                <a:latin typeface="Trebuchet MS"/>
                <a:cs typeface="Trebuchet MS"/>
              </a:rPr>
              <a:t>Comparison</a:t>
            </a:r>
            <a:endParaRPr sz="2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9313" y="7296150"/>
            <a:ext cx="170688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Runs</a:t>
            </a:r>
            <a:r>
              <a:rPr sz="2250" spc="-2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selected 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algorithm</a:t>
            </a:r>
            <a:r>
              <a:rPr sz="2250" spc="-2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on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25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puzzle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82164" y="7277199"/>
            <a:ext cx="168973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sz="2350" spc="-85" dirty="0">
                <a:solidFill>
                  <a:srgbClr val="FFFFFF"/>
                </a:solidFill>
                <a:latin typeface="Verdana"/>
                <a:cs typeface="Verdana"/>
              </a:rPr>
              <a:t>Outputs</a:t>
            </a:r>
            <a:r>
              <a:rPr sz="235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40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350" spc="-10" dirty="0">
                <a:solidFill>
                  <a:srgbClr val="FFFFFF"/>
                </a:solidFill>
                <a:latin typeface="Verdana"/>
                <a:cs typeface="Verdana"/>
              </a:rPr>
              <a:t>solved </a:t>
            </a:r>
            <a:r>
              <a:rPr sz="2350" spc="-60" dirty="0">
                <a:solidFill>
                  <a:srgbClr val="FFFFFF"/>
                </a:solidFill>
                <a:latin typeface="Verdana"/>
                <a:cs typeface="Verdana"/>
              </a:rPr>
              <a:t>puzzle</a:t>
            </a:r>
            <a:r>
              <a:rPr sz="2350" spc="-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Verdana"/>
                <a:cs typeface="Verdana"/>
              </a:rPr>
              <a:t>grid</a:t>
            </a:r>
            <a:endParaRPr sz="23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29364" y="7060077"/>
            <a:ext cx="1701164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2150" spc="-35" dirty="0">
                <a:solidFill>
                  <a:srgbClr val="FFFFFF"/>
                </a:solidFill>
                <a:latin typeface="Verdana"/>
                <a:cs typeface="Verdana"/>
              </a:rPr>
              <a:t>Logs</a:t>
            </a:r>
            <a:r>
              <a:rPr sz="215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30" dirty="0">
                <a:solidFill>
                  <a:srgbClr val="FFFFFF"/>
                </a:solidFill>
                <a:latin typeface="Verdana"/>
                <a:cs typeface="Verdana"/>
              </a:rPr>
              <a:t>metrics </a:t>
            </a:r>
            <a:r>
              <a:rPr sz="2150" spc="-7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5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65" dirty="0">
                <a:solidFill>
                  <a:srgbClr val="FFFFFF"/>
                </a:solidFill>
                <a:latin typeface="Verdana"/>
                <a:cs typeface="Verdana"/>
              </a:rPr>
              <a:t>statistics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02406" y="7355649"/>
            <a:ext cx="229044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2150" spc="-75" dirty="0">
                <a:solidFill>
                  <a:srgbClr val="FFFFFF"/>
                </a:solidFill>
                <a:latin typeface="Verdana"/>
                <a:cs typeface="Verdana"/>
              </a:rPr>
              <a:t>Visualizes</a:t>
            </a:r>
            <a:r>
              <a:rPr sz="21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150" spc="-55" dirty="0">
                <a:solidFill>
                  <a:srgbClr val="FFFFFF"/>
                </a:solidFill>
                <a:latin typeface="Verdana"/>
                <a:cs typeface="Verdana"/>
              </a:rPr>
              <a:t>compares</a:t>
            </a:r>
            <a:r>
              <a:rPr sz="21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Verdana"/>
                <a:cs typeface="Verdana"/>
              </a:rPr>
              <a:t>results </a:t>
            </a:r>
            <a:r>
              <a:rPr sz="2150" spc="-35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21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50" spc="-95" dirty="0">
                <a:solidFill>
                  <a:srgbClr val="FFFFFF"/>
                </a:solidFill>
                <a:latin typeface="Verdana"/>
                <a:cs typeface="Verdana"/>
              </a:rPr>
              <a:t>algorithms</a:t>
            </a:r>
            <a:endParaRPr sz="215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3550" y="8782050"/>
            <a:ext cx="14601825" cy="866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3550" y="0"/>
            <a:ext cx="8934450" cy="1028698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8184" y="1077442"/>
            <a:ext cx="981583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600" spc="-155" dirty="0"/>
              <a:t>Expected</a:t>
            </a:r>
            <a:r>
              <a:rPr sz="8600" spc="-844" dirty="0"/>
              <a:t> </a:t>
            </a:r>
            <a:r>
              <a:rPr sz="8600" spc="-70" dirty="0"/>
              <a:t>Outcomes</a:t>
            </a:r>
            <a:endParaRPr sz="8600"/>
          </a:p>
        </p:txBody>
      </p:sp>
      <p:sp>
        <p:nvSpPr>
          <p:cNvPr id="5" name="object 5"/>
          <p:cNvSpPr txBox="1"/>
          <p:nvPr/>
        </p:nvSpPr>
        <p:spPr>
          <a:xfrm>
            <a:off x="718184" y="2106294"/>
            <a:ext cx="5516245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600" b="1" spc="-5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8600" b="1" spc="-509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8600" b="1" spc="-1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8600" b="1" spc="-1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600" b="1" spc="-10" dirty="0">
                <a:solidFill>
                  <a:srgbClr val="FFFFFF"/>
                </a:solidFill>
                <a:latin typeface="Trebuchet MS"/>
                <a:cs typeface="Trebuchet MS"/>
              </a:rPr>
              <a:t>Closing</a:t>
            </a:r>
            <a:endParaRPr sz="8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" y="3857637"/>
            <a:ext cx="2838450" cy="21906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100"/>
              </a:spcBef>
            </a:pPr>
            <a:r>
              <a:rPr spc="-114" dirty="0"/>
              <a:t>Multiple</a:t>
            </a:r>
            <a:r>
              <a:rPr spc="-440" dirty="0"/>
              <a:t> </a:t>
            </a:r>
            <a:r>
              <a:rPr spc="-145" dirty="0"/>
              <a:t>AI</a:t>
            </a:r>
            <a:r>
              <a:rPr spc="-620" dirty="0"/>
              <a:t> </a:t>
            </a:r>
            <a:r>
              <a:rPr spc="-155" dirty="0"/>
              <a:t>Sudoku</a:t>
            </a:r>
            <a:r>
              <a:rPr spc="-484" dirty="0"/>
              <a:t> </a:t>
            </a:r>
            <a:r>
              <a:rPr spc="-110" dirty="0"/>
              <a:t>solvers</a:t>
            </a:r>
            <a:r>
              <a:rPr spc="-430" dirty="0"/>
              <a:t> </a:t>
            </a:r>
            <a:r>
              <a:rPr spc="-160" dirty="0"/>
              <a:t>including</a:t>
            </a:r>
            <a:r>
              <a:rPr spc="-490" dirty="0"/>
              <a:t> </a:t>
            </a:r>
            <a:r>
              <a:rPr spc="-180" dirty="0"/>
              <a:t>AC-</a:t>
            </a:r>
            <a:r>
              <a:rPr spc="-50" dirty="0"/>
              <a:t>3 </a:t>
            </a:r>
            <a:r>
              <a:rPr spc="-90" dirty="0"/>
              <a:t>Cleaned</a:t>
            </a:r>
            <a:r>
              <a:rPr spc="-420" dirty="0"/>
              <a:t> </a:t>
            </a:r>
            <a:r>
              <a:rPr spc="-130" dirty="0"/>
              <a:t>and</a:t>
            </a:r>
            <a:r>
              <a:rPr spc="-484" dirty="0"/>
              <a:t> </a:t>
            </a:r>
            <a:r>
              <a:rPr spc="-85" dirty="0"/>
              <a:t>labeled</a:t>
            </a:r>
            <a:r>
              <a:rPr spc="-409" dirty="0"/>
              <a:t> </a:t>
            </a:r>
            <a:r>
              <a:rPr spc="-155" dirty="0"/>
              <a:t>Sudoku</a:t>
            </a:r>
            <a:r>
              <a:rPr spc="-495" dirty="0"/>
              <a:t> </a:t>
            </a:r>
            <a:r>
              <a:rPr spc="-10" dirty="0"/>
              <a:t>dataset </a:t>
            </a:r>
            <a:r>
              <a:rPr spc="-135" dirty="0"/>
              <a:t>Performance</a:t>
            </a:r>
            <a:r>
              <a:rPr spc="-459" dirty="0"/>
              <a:t> </a:t>
            </a:r>
            <a:r>
              <a:rPr spc="-145" dirty="0"/>
              <a:t>comparison</a:t>
            </a:r>
            <a:r>
              <a:rPr spc="-459" dirty="0"/>
              <a:t> </a:t>
            </a:r>
            <a:r>
              <a:rPr spc="-155" dirty="0"/>
              <a:t>with</a:t>
            </a:r>
            <a:r>
              <a:rPr spc="-525" dirty="0"/>
              <a:t> </a:t>
            </a:r>
            <a:r>
              <a:rPr spc="-90" dirty="0"/>
              <a:t>tables</a:t>
            </a:r>
            <a:r>
              <a:rPr spc="-405" dirty="0"/>
              <a:t> </a:t>
            </a:r>
            <a:r>
              <a:rPr spc="-130" dirty="0"/>
              <a:t>and</a:t>
            </a:r>
            <a:r>
              <a:rPr spc="-484" dirty="0"/>
              <a:t> </a:t>
            </a:r>
            <a:r>
              <a:rPr spc="-10" dirty="0"/>
              <a:t>graphs </a:t>
            </a:r>
            <a:r>
              <a:rPr spc="-195" dirty="0"/>
              <a:t>Interactive</a:t>
            </a:r>
            <a:r>
              <a:rPr spc="-445" dirty="0"/>
              <a:t> </a:t>
            </a:r>
            <a:r>
              <a:rPr spc="-240" dirty="0"/>
              <a:t>Sudoku-</a:t>
            </a:r>
            <a:r>
              <a:rPr spc="-145" dirty="0"/>
              <a:t>solving</a:t>
            </a:r>
            <a:r>
              <a:rPr spc="-380" dirty="0"/>
              <a:t> </a:t>
            </a:r>
            <a:r>
              <a:rPr spc="-175" dirty="0"/>
              <a:t>demonstration</a:t>
            </a:r>
            <a:r>
              <a:rPr spc="-405" dirty="0"/>
              <a:t> </a:t>
            </a:r>
            <a:r>
              <a:rPr spc="-10" dirty="0"/>
              <a:t>system </a:t>
            </a:r>
            <a:r>
              <a:rPr spc="-140" dirty="0"/>
              <a:t>Final</a:t>
            </a:r>
            <a:r>
              <a:rPr spc="-500" dirty="0"/>
              <a:t> </a:t>
            </a:r>
            <a:r>
              <a:rPr spc="-120" dirty="0"/>
              <a:t>technical</a:t>
            </a:r>
            <a:r>
              <a:rPr spc="-445" dirty="0"/>
              <a:t> </a:t>
            </a:r>
            <a:r>
              <a:rPr spc="-140" dirty="0"/>
              <a:t>report</a:t>
            </a:r>
            <a:r>
              <a:rPr spc="-484" dirty="0"/>
              <a:t> </a:t>
            </a:r>
            <a:r>
              <a:rPr spc="-130" dirty="0"/>
              <a:t>and</a:t>
            </a:r>
            <a:r>
              <a:rPr spc="-490" dirty="0"/>
              <a:t> </a:t>
            </a:r>
            <a:r>
              <a:rPr spc="-85" dirty="0"/>
              <a:t>source</a:t>
            </a:r>
            <a:r>
              <a:rPr spc="-405" dirty="0"/>
              <a:t> </a:t>
            </a:r>
            <a:r>
              <a:rPr spc="-10" dirty="0"/>
              <a:t>code</a:t>
            </a:r>
            <a:r>
              <a:rPr spc="-330" dirty="0"/>
              <a:t> </a:t>
            </a:r>
            <a:r>
              <a:rPr spc="-60" dirty="0"/>
              <a:t>repository</a:t>
            </a:r>
          </a:p>
        </p:txBody>
      </p:sp>
      <p:sp>
        <p:nvSpPr>
          <p:cNvPr id="9" name="object 9"/>
          <p:cNvSpPr txBox="1"/>
          <p:nvPr/>
        </p:nvSpPr>
        <p:spPr>
          <a:xfrm rot="1200000">
            <a:off x="12575885" y="5465600"/>
            <a:ext cx="3205486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sz="5100" spc="-450" baseline="29411" dirty="0">
                <a:solidFill>
                  <a:srgbClr val="998360"/>
                </a:solidFill>
                <a:latin typeface="Verdana"/>
                <a:cs typeface="Verdana"/>
              </a:rPr>
              <a:t>INTELL</a:t>
            </a:r>
            <a:r>
              <a:rPr sz="3450" spc="-300" dirty="0">
                <a:solidFill>
                  <a:srgbClr val="998360"/>
                </a:solidFill>
                <a:latin typeface="Verdana"/>
                <a:cs typeface="Verdana"/>
              </a:rPr>
              <a:t>ISUDOKU</a:t>
            </a:r>
            <a:endParaRPr sz="34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818" y="8642479"/>
            <a:ext cx="442277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50" b="1" spc="-10" dirty="0">
                <a:solidFill>
                  <a:srgbClr val="FF904C"/>
                </a:solidFill>
                <a:latin typeface="Trebuchet MS"/>
                <a:cs typeface="Trebuchet MS"/>
              </a:rPr>
              <a:t>Thank</a:t>
            </a:r>
            <a:r>
              <a:rPr sz="3250" b="1" spc="-245" dirty="0">
                <a:solidFill>
                  <a:srgbClr val="FF904C"/>
                </a:solidFill>
                <a:latin typeface="Trebuchet MS"/>
                <a:cs typeface="Trebuchet MS"/>
              </a:rPr>
              <a:t> </a:t>
            </a:r>
            <a:r>
              <a:rPr sz="3250" b="1" spc="-120" dirty="0">
                <a:solidFill>
                  <a:srgbClr val="FF904C"/>
                </a:solidFill>
                <a:latin typeface="Trebuchet MS"/>
                <a:cs typeface="Trebuchet MS"/>
              </a:rPr>
              <a:t>you.</a:t>
            </a:r>
            <a:r>
              <a:rPr sz="3250" b="1" spc="-385" dirty="0">
                <a:solidFill>
                  <a:srgbClr val="FF904C"/>
                </a:solidFill>
                <a:latin typeface="Trebuchet MS"/>
                <a:cs typeface="Trebuchet MS"/>
              </a:rPr>
              <a:t> </a:t>
            </a:r>
            <a:r>
              <a:rPr sz="3250" spc="-10" dirty="0">
                <a:solidFill>
                  <a:srgbClr val="FFFFFF"/>
                </a:solidFill>
                <a:latin typeface="Verdana"/>
                <a:cs typeface="Verdana"/>
              </a:rPr>
              <a:t>Questions?</a:t>
            </a:r>
            <a:endParaRPr sz="3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319</Words>
  <Application>Microsoft Office PowerPoint</Application>
  <PresentationFormat>Custom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Trebuchet MS</vt:lpstr>
      <vt:lpstr>Verdana</vt:lpstr>
      <vt:lpstr>Office Theme</vt:lpstr>
      <vt:lpstr>IntelliSudoku</vt:lpstr>
      <vt:lpstr>Problem Statement and Motivation</vt:lpstr>
      <vt:lpstr>Dataset Overview</vt:lpstr>
      <vt:lpstr>AI Search Algorithms Implemented</vt:lpstr>
      <vt:lpstr>Evaluation Metrics and</vt:lpstr>
      <vt:lpstr>System Architecture and Workflow</vt:lpstr>
      <vt:lpstr>Expected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1,000</dc:title>
  <dc:creator>Musfiq 009</dc:creator>
  <cp:keywords>DAHU-GxRfak,BAHU-DvSFpo</cp:keywords>
  <cp:lastModifiedBy>Ahnaf Shahriar</cp:lastModifiedBy>
  <cp:revision>1</cp:revision>
  <dcterms:created xsi:type="dcterms:W3CDTF">2026-09-13T11:33:14Z</dcterms:created>
  <dcterms:modified xsi:type="dcterms:W3CDTF">2026-09-13T11:33:51Z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2026-09-13T00:00:00Z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2026-09-13T00:00:00Z</vt:filetime>
  </property>
  <property fmtid="{D5CDD505-2E9C-101B-9397-08002B2CF9AE}" pid="6" name="Producer">
    <vt:lpwstr>3-Heights(TM) PDF Security Shell 4.8.25.2 (http://www.pdf-tools.com)</vt:lpwstr>
  </property>
</Properties>
</file>